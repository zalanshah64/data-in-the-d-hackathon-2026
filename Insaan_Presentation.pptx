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06292"/>
                </a:solidFill>
                <a:latin typeface="Calibri"/>
              </a:defRPr>
            </a:pPr>
            <a:r>
              <a:t>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Insaan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THE HEALTHCARE CONCIERGE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4023360"/>
            <a:ext cx="2743200" cy="457200"/>
          </a:xfrm>
          <a:prstGeom prst="round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HACK THE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0292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rPr sz="2000">
                <a:solidFill>
                  <a:srgbClr val="94A3B8"/>
                </a:solidFill>
                <a:latin typeface="Calibri"/>
              </a:rPr>
              <a:t>Built for patients who just want to talk to </a:t>
            </a:r>
            <a:r>
              <a:rPr sz="2000" b="1" i="1">
                <a:solidFill>
                  <a:srgbClr val="29B6F6"/>
                </a:solidFill>
                <a:latin typeface="Calibri"/>
              </a:rPr>
              <a:t>a human that understands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sz="4400" b="1">
                <a:solidFill>
                  <a:srgbClr val="FFFFFF"/>
                </a:solidFill>
                <a:latin typeface="Calibri"/>
              </a:rPr>
              <a:t>The </a:t>
            </a:r>
            <a:r>
              <a:rPr sz="4400" b="1">
                <a:solidFill>
                  <a:srgbClr val="29B6F6"/>
                </a:solidFill>
                <a:latin typeface="Calibri"/>
              </a:rPr>
              <a:t>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2286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63500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63500" cy="2286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20116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"My parents struggle with English and have a hard time navigating the medical world — bills, appointments, prescriptions. They just want to speak with a human that understands them."</a:t>
            </a:r>
          </a:p>
          <a:p>
            <a:pPr algn="l">
              <a:spcBef>
                <a:spcPts val="1600"/>
              </a:spcBef>
              <a:defRPr sz="1600" b="0">
                <a:solidFill>
                  <a:srgbClr val="94A3B8"/>
                </a:solidFill>
                <a:latin typeface="Calibri"/>
              </a:defRPr>
            </a:pPr>
            <a:r>
              <a:t>— The inspiration behind Insaan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503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rPr sz="2000" b="1" dirty="0">
                <a:solidFill>
                  <a:srgbClr val="29B6F6"/>
                </a:solidFill>
                <a:latin typeface="Calibri"/>
              </a:rPr>
              <a:t>Insaan</a:t>
            </a:r>
            <a:r>
              <a:rPr sz="2000" dirty="0">
                <a:solidFill>
                  <a:srgbClr val="94A3B8"/>
                </a:solidFill>
                <a:latin typeface="Calibri"/>
              </a:rPr>
              <a:t> means "human" in </a:t>
            </a:r>
            <a:r>
              <a:rPr lang="en-US" sz="2000" dirty="0">
                <a:solidFill>
                  <a:srgbClr val="94A3B8"/>
                </a:solidFill>
                <a:latin typeface="Calibri"/>
              </a:rPr>
              <a:t>Pashto</a:t>
            </a:r>
            <a:r>
              <a:rPr sz="2000" dirty="0">
                <a:solidFill>
                  <a:srgbClr val="94A3B8"/>
                </a:solidFill>
                <a:latin typeface="Calibri"/>
              </a:rPr>
              <a:t> — because healthcare should feel human, no matter what language you speak.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65760"/>
            <a:ext cx="12191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sz="4400" b="1" dirty="0">
                <a:solidFill>
                  <a:srgbClr val="FFFFFF"/>
                </a:solidFill>
                <a:latin typeface="Calibri"/>
              </a:rPr>
              <a:t>What </a:t>
            </a:r>
            <a:r>
              <a:rPr lang="en-US" sz="4400" b="1" dirty="0">
                <a:solidFill>
                  <a:srgbClr val="FFFFFF"/>
                </a:solidFill>
                <a:latin typeface="Calibri"/>
              </a:rPr>
              <a:t>I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dirty="0">
                <a:solidFill>
                  <a:srgbClr val="29B6F6"/>
                </a:solidFill>
                <a:latin typeface="Calibri"/>
              </a:rPr>
              <a:t>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463040"/>
            <a:ext cx="3108960" cy="20116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Multilingual AI Chat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Patients speak in any language. Insaan auto-detects and responds in kind.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108960" cy="20116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164592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Appointment Management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Schedule, reschedule, or cancel visits through natural conversation.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63040"/>
            <a:ext cx="3108960" cy="20116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Insurance &amp; Billing Insights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Ask "Why do I pay more?" and get a clear, data-driven breakdown.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794760"/>
            <a:ext cx="3108960" cy="20116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97764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Prescription Refills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Request medication refills in any language, validated against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794760"/>
            <a:ext cx="3108960" cy="20116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397764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Patient Portal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Full dashboard — diagnoses, meds, costs, visits — auto-translated.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794760"/>
            <a:ext cx="3108960" cy="20116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397764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Clinical Trial Matching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Patients notified about relevant studies recruiting in their areas.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Demo: </a:t>
            </a:r>
            <a:r>
              <a:rPr sz="3600" b="1">
                <a:solidFill>
                  <a:srgbClr val="29B6F6"/>
                </a:solidFill>
                <a:latin typeface="Calibri"/>
              </a:rPr>
              <a:t>Insurance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Patient asks: "Why do I pay so much more for insurance?" — Insaan pulls billing data and explains clearly.</a:t>
            </a:r>
          </a:p>
        </p:txBody>
      </p:sp>
      <p:pic>
        <p:nvPicPr>
          <p:cNvPr id="5" name="Picture 4" descr="Stag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18320" cy="45171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Demo: </a:t>
            </a:r>
            <a:r>
              <a:rPr sz="3600" b="1">
                <a:solidFill>
                  <a:srgbClr val="29B6F6"/>
                </a:solidFill>
                <a:latin typeface="Calibri"/>
              </a:rPr>
              <a:t>Appointment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Patient asks to push an appointment. Insaan finds it, proposes a new date, and writes the change.</a:t>
            </a:r>
          </a:p>
        </p:txBody>
      </p:sp>
      <p:pic>
        <p:nvPicPr>
          <p:cNvPr id="5" name="Picture 4" descr="stag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2112598"/>
          </a:xfrm>
          <a:prstGeom prst="rect">
            <a:avLst/>
          </a:prstGeom>
        </p:spPr>
      </p:pic>
      <p:pic>
        <p:nvPicPr>
          <p:cNvPr id="6" name="Picture 5" descr="Stage 2 part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486400" cy="2124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Demo: </a:t>
            </a:r>
            <a:r>
              <a:rPr sz="3600" b="1">
                <a:solidFill>
                  <a:srgbClr val="29B6F6"/>
                </a:solidFill>
                <a:latin typeface="Calibri"/>
              </a:rPr>
              <a:t>Speak Any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Patient types in Arabic. Insaan detects the language, queries patient data, and responds in Arabic.</a:t>
            </a:r>
          </a:p>
        </p:txBody>
      </p:sp>
      <p:pic>
        <p:nvPicPr>
          <p:cNvPr id="5" name="Picture 4" descr="stag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18320" cy="45629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Demo: </a:t>
            </a:r>
            <a:r>
              <a:rPr sz="3600" b="1">
                <a:solidFill>
                  <a:srgbClr val="29B6F6"/>
                </a:solidFill>
                <a:latin typeface="Calibri"/>
              </a:rPr>
              <a:t>Spanish Booking &amp;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Full Spanish conversation: patient feels sick, Insaan books with their PCP. The Patient Portal auto-translates too.</a:t>
            </a:r>
          </a:p>
        </p:txBody>
      </p:sp>
      <p:pic>
        <p:nvPicPr>
          <p:cNvPr id="5" name="Picture 4" descr="stage 3 part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2195172"/>
          </a:xfrm>
          <a:prstGeom prst="rect">
            <a:avLst/>
          </a:prstGeom>
        </p:spPr>
      </p:pic>
      <p:pic>
        <p:nvPicPr>
          <p:cNvPr id="6" name="Picture 5" descr="Stage 3 part 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486400" cy="2257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sz="4400" b="1">
                <a:solidFill>
                  <a:srgbClr val="FFFFFF"/>
                </a:solidFill>
                <a:latin typeface="Calibri"/>
              </a:rPr>
              <a:t>Snowflake </a:t>
            </a:r>
            <a:r>
              <a:rPr sz="4400" b="1">
                <a:solidFill>
                  <a:srgbClr val="29B6F6"/>
                </a:solidFill>
                <a:latin typeface="Calibri"/>
              </a:rPr>
              <a:t>Features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887" y="1371600"/>
            <a:ext cx="2011680" cy="411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8047" y="1499616"/>
            <a:ext cx="155448" cy="155448"/>
          </a:xfrm>
          <a:prstGeom prst="ellipse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647" y="137160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Streamlit in Snowflake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447" y="1371600"/>
            <a:ext cx="2011680" cy="411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032607" y="1499616"/>
            <a:ext cx="155448" cy="155448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1207" y="137160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Cortex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0007" y="1371600"/>
            <a:ext cx="2011680" cy="411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27167" y="1499616"/>
            <a:ext cx="155448" cy="155448"/>
          </a:xfrm>
          <a:prstGeom prst="ellipse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55767" y="137160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AI_TRANSLATE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4567" y="1371600"/>
            <a:ext cx="2011680" cy="411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21727" y="1499616"/>
            <a:ext cx="155448" cy="15544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0327" y="137160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AI_CLASSIFY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9127" y="1371600"/>
            <a:ext cx="2011680" cy="411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16287" y="1499616"/>
            <a:ext cx="155448" cy="155448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44887" y="1371600"/>
            <a:ext cx="1600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Semantic Views</a:t>
            </a:r>
          </a:p>
        </p:txBody>
      </p:sp>
      <p:sp>
        <p:nvSpPr>
          <p:cNvPr id="19" name="Oval 18"/>
          <p:cNvSpPr/>
          <p:nvPr/>
        </p:nvSpPr>
        <p:spPr>
          <a:xfrm>
            <a:off x="1645920" y="2212848"/>
            <a:ext cx="109728" cy="109728"/>
          </a:xfrm>
          <a:prstGeom prst="ellipse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20240" y="2103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</a:rPr>
              <a:t>Cortex Agent</a:t>
            </a:r>
            <a:r>
              <a:rPr sz="1800">
                <a:solidFill>
                  <a:srgbClr val="E2E8F0"/>
                </a:solidFill>
                <a:latin typeface="Calibri"/>
              </a:rPr>
              <a:t> — The brain. Routes patient queries to the right data tools and executes write-back actions (book, cancel, reschedule, refill).</a:t>
            </a:r>
          </a:p>
        </p:txBody>
      </p:sp>
      <p:sp>
        <p:nvSpPr>
          <p:cNvPr id="21" name="Oval 20"/>
          <p:cNvSpPr/>
          <p:nvPr/>
        </p:nvSpPr>
        <p:spPr>
          <a:xfrm>
            <a:off x="1645920" y="3310128"/>
            <a:ext cx="109728" cy="109728"/>
          </a:xfrm>
          <a:prstGeom prst="ellipse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0" y="32004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</a:rPr>
              <a:t>AI_TRANSLATE</a:t>
            </a:r>
            <a:r>
              <a:rPr sz="1800">
                <a:solidFill>
                  <a:srgbClr val="E2E8F0"/>
                </a:solidFill>
                <a:latin typeface="Calibri"/>
              </a:rPr>
              <a:t> — Translates user input to English for the agent, then translates responses back. Also translates the entire patient portal UI.</a:t>
            </a:r>
          </a:p>
        </p:txBody>
      </p:sp>
      <p:sp>
        <p:nvSpPr>
          <p:cNvPr id="23" name="Oval 22"/>
          <p:cNvSpPr/>
          <p:nvPr/>
        </p:nvSpPr>
        <p:spPr>
          <a:xfrm>
            <a:off x="1645920" y="4407408"/>
            <a:ext cx="109728" cy="109728"/>
          </a:xfrm>
          <a:prstGeom prst="ellipse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20240" y="42976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</a:rPr>
              <a:t>AI_CLASSIFY</a:t>
            </a:r>
            <a:r>
              <a:rPr sz="1800">
                <a:solidFill>
                  <a:srgbClr val="E2E8F0"/>
                </a:solidFill>
                <a:latin typeface="Calibri"/>
              </a:rPr>
              <a:t> — Detects the language of each message so the system knows which language to respond in — no manual selection needed.</a:t>
            </a:r>
          </a:p>
        </p:txBody>
      </p:sp>
      <p:sp>
        <p:nvSpPr>
          <p:cNvPr id="25" name="Oval 24"/>
          <p:cNvSpPr/>
          <p:nvPr/>
        </p:nvSpPr>
        <p:spPr>
          <a:xfrm>
            <a:off x="1645920" y="5504688"/>
            <a:ext cx="109728" cy="109728"/>
          </a:xfrm>
          <a:prstGeom prst="ellipse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20240" y="5394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</a:rPr>
              <a:t>Streamlit</a:t>
            </a:r>
            <a:r>
              <a:rPr sz="1800">
                <a:solidFill>
                  <a:srgbClr val="E2E8F0"/>
                </a:solidFill>
                <a:latin typeface="Calibri"/>
              </a:rPr>
              <a:t> — The full front-end: chat interface, patient portal, and admin dashboard — all running natively in Snowflake.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sz="4400" b="1">
                <a:solidFill>
                  <a:srgbClr val="FFFFFF"/>
                </a:solidFill>
                <a:latin typeface="Calibri"/>
              </a:rPr>
              <a:t>How </a:t>
            </a:r>
            <a:r>
              <a:rPr sz="4400" b="1">
                <a:solidFill>
                  <a:srgbClr val="29B6F6"/>
                </a:solidFill>
                <a:latin typeface="Calibri"/>
              </a:rPr>
              <a:t>Baked</a:t>
            </a:r>
            <a:r>
              <a:rPr sz="4400" b="1">
                <a:solidFill>
                  <a:srgbClr val="FFFFFF"/>
                </a:solidFill>
                <a:latin typeface="Calibri"/>
              </a:rPr>
              <a:t> Is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554480"/>
            <a:ext cx="640080" cy="182880"/>
          </a:xfrm>
          <a:prstGeom prst="round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0" y="1554480"/>
            <a:ext cx="640080" cy="182880"/>
          </a:xfrm>
          <a:prstGeom prst="round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03520" y="1554480"/>
            <a:ext cx="640080" cy="182880"/>
          </a:xfrm>
          <a:prstGeom prst="round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640080" cy="182880"/>
          </a:xfrm>
          <a:prstGeom prst="round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66560" y="1554480"/>
            <a:ext cx="640080" cy="182880"/>
          </a:xfrm>
          <a:prstGeom prst="roundRect">
            <a:avLst/>
          </a:prstGeom>
          <a:solidFill>
            <a:srgbClr val="2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 / 5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23774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2286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rPr sz="1700" b="1">
                <a:solidFill>
                  <a:srgbClr val="4ADE80"/>
                </a:solidFill>
                <a:latin typeface="Calibri"/>
              </a:rPr>
              <a:t>Real: </a:t>
            </a:r>
            <a:r>
              <a:rPr sz="1700">
                <a:solidFill>
                  <a:srgbClr val="E2E8F0"/>
                </a:solidFill>
                <a:latin typeface="Calibri"/>
              </a:rPr>
              <a:t>Multilingual chat with auto-detection and translation (AI_TRANSLATE + AI_CLASSIFY)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0" y="315468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30632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rPr sz="1700" b="1">
                <a:solidFill>
                  <a:srgbClr val="4ADE80"/>
                </a:solidFill>
                <a:latin typeface="Calibri"/>
              </a:rPr>
              <a:t>Real: </a:t>
            </a:r>
            <a:r>
              <a:rPr sz="1700">
                <a:solidFill>
                  <a:srgbClr val="E2E8F0"/>
                </a:solidFill>
                <a:latin typeface="Calibri"/>
              </a:rPr>
              <a:t>Cortex Agent answering patient questions with live Snowflake data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393192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0" y="3840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rPr sz="1700" b="1">
                <a:solidFill>
                  <a:srgbClr val="4ADE80"/>
                </a:solidFill>
                <a:latin typeface="Calibri"/>
              </a:rPr>
              <a:t>Real: </a:t>
            </a:r>
            <a:r>
              <a:rPr sz="1700">
                <a:solidFill>
                  <a:srgbClr val="E2E8F0"/>
                </a:solidFill>
                <a:latin typeface="Calibri"/>
              </a:rPr>
              <a:t>Write-back actions — booking, rescheduling, cancelling appointments; requesting refills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0" y="470916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4617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rPr sz="1700" b="1">
                <a:solidFill>
                  <a:srgbClr val="4ADE80"/>
                </a:solidFill>
                <a:latin typeface="Calibri"/>
              </a:rPr>
              <a:t>Real: </a:t>
            </a:r>
            <a:r>
              <a:rPr sz="1700">
                <a:solidFill>
                  <a:srgbClr val="E2E8F0"/>
                </a:solidFill>
                <a:latin typeface="Calibri"/>
              </a:rPr>
              <a:t>Full patient portal with auto-translated UI (diagnoses, meds, costs, visits)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0" y="5486400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5394960"/>
            <a:ext cx="7772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rPr lang="en-US" sz="1700" b="1" dirty="0">
                <a:solidFill>
                  <a:srgbClr val="FACC15"/>
                </a:solidFill>
                <a:latin typeface="Calibri"/>
              </a:rPr>
              <a:t>Faked</a:t>
            </a:r>
            <a:r>
              <a:rPr sz="1700" b="1" dirty="0">
                <a:solidFill>
                  <a:srgbClr val="FACC15"/>
                </a:solidFill>
                <a:latin typeface="Calibri"/>
              </a:rPr>
              <a:t>: </a:t>
            </a:r>
            <a:r>
              <a:rPr lang="en-US" sz="1700" dirty="0">
                <a:solidFill>
                  <a:srgbClr val="E2E8F0"/>
                </a:solidFill>
                <a:latin typeface="Calibri"/>
              </a:rPr>
              <a:t>No login system for patients; just simulated by typing in name from simulated DB</a:t>
            </a:r>
            <a:endParaRPr sz="1700" dirty="0">
              <a:solidFill>
                <a:srgbClr val="E2E8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sz="4400" b="1">
                <a:solidFill>
                  <a:srgbClr val="FFFFFF"/>
                </a:solidFill>
                <a:latin typeface="Calibri"/>
              </a:rPr>
              <a:t>What's </a:t>
            </a:r>
            <a:r>
              <a:rPr sz="4400" b="1">
                <a:solidFill>
                  <a:srgbClr val="29B6F6"/>
                </a:solidFill>
                <a:latin typeface="Calibri"/>
              </a:rPr>
              <a:t>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0" y="1645920"/>
            <a:ext cx="457200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187452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B6F6"/>
                </a:solidFill>
                <a:latin typeface="Calibri"/>
              </a:defRPr>
            </a:pPr>
            <a:r>
              <a:t>VOICE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Speech-to-Text &amp; Text-to-Speech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Let patients speak to Insaan out loud and hear responses — removing the literacy barrier entirely.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645920"/>
            <a:ext cx="457200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2280" y="187452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B6F6"/>
                </a:solidFill>
                <a:latin typeface="Calibri"/>
              </a:defRPr>
            </a:pPr>
            <a:r>
              <a:t>SENTIMENT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Conversation Analytics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Track patient sentiment and flag frustration so staff can intervene proactively.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3931920"/>
            <a:ext cx="457200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416052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B6F6"/>
                </a:solidFill>
                <a:latin typeface="Calibri"/>
              </a:defRPr>
            </a:pPr>
            <a:r>
              <a:t>CONTEXT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Deeper Medical Knowledge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Integrate clinical guidelines and drug interaction data for more informed responses.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931920"/>
            <a:ext cx="457200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416052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9B6F6"/>
                </a:solidFill>
                <a:latin typeface="Calibri"/>
              </a:defRPr>
            </a:pPr>
            <a:r>
              <a:t>SCALE</a:t>
            </a:r>
          </a:p>
          <a:p>
            <a:pPr algn="l">
              <a:spcBef>
                <a:spcPts val="6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Multi-Provider Support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Extend to support multiple health systems, each with their own data and branding.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06292"/>
                </a:solidFill>
                <a:latin typeface="Calibri"/>
              </a:defRPr>
            </a:pPr>
            <a:r>
              <a:t>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Insaan — Because Healthcare Should Feel Human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dirty="0"/>
              <a:t>Built with Snowflake Cortex, </a:t>
            </a:r>
            <a:r>
              <a:rPr dirty="0" err="1"/>
              <a:t>Streamlit</a:t>
            </a:r>
            <a:r>
              <a:t>, and a lot of heart.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575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Zalan Shah</cp:lastModifiedBy>
  <cp:revision>4</cp:revision>
  <dcterms:created xsi:type="dcterms:W3CDTF">2013-01-27T09:14:16Z</dcterms:created>
  <dcterms:modified xsi:type="dcterms:W3CDTF">2026-10-16T20:51:43Z</dcterms:modified>
  <cp:category/>
</cp:coreProperties>
</file>